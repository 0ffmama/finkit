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SemiBold-regular.fntdata"/><Relationship Id="rId15" Type="http://schemas.openxmlformats.org/officeDocument/2006/relationships/font" Target="fonts/InterSemiBold-bold.fntdata"/><Relationship Id="rId16" Type="http://schemas.openxmlformats.org/officeDocument/2006/relationships/font" Target="fonts/InterSemiBold-italic.fntdata"/><Relationship Id="rId17" Type="http://schemas.openxmlformats.org/officeDocument/2006/relationships/font" Target="fonts/InterSemiBold-boldItalic.fntdata"/><Relationship Id="rId18" Type="http://schemas.openxmlformats.org/officeDocument/2006/relationships/font" Target="fonts/Inter-bold.fntdata"/><Relationship Id="rId19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3c6fa307e46bdeb9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3c6fa307e46bdeb9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3c6fa307e46bdeb9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3c6fa307e46bdeb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3c6fa307e46bdeb9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3c6fa307e46bdeb9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3c6fa307e46bdeb9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3c6fa307e46bdeb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c6fa307e46bdeb9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3c6fa307e46bdeb9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3c6fa307e46bdeb9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3c6fa307e46bdeb9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3c6fa307e46bdeb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h3c6fa307e46bdeb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3c6fa307e46bdeb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3c6fa307e46bdeb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c6fa307e46bdeb9_14_0)">
  <p:cSld name="Generated (h3c6fa307e46bdeb9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0" y="57150"/>
                <a:ext cx="9144000" cy="19200"/>
              </a:xfrm>
              <a:prstGeom prst="rect">
                <a:avLst/>
              </a:prstGeom>
              <a:solidFill>
                <a:srgbClr val="C59B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14"/>
            <p:cNvGrpSpPr/>
            <p:nvPr/>
          </p:nvGrpSpPr>
          <p:grpSpPr>
            <a:xfrm>
              <a:off x="457200" y="457200"/>
              <a:ext cx="304800" cy="304800"/>
              <a:chOff x="0" y="0"/>
              <a:chExt cx="304800" cy="304800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  <a:lnTo>
                      <a:pt x="120000" y="30000"/>
                    </a:lnTo>
                    <a:lnTo>
                      <a:pt x="40000" y="30000"/>
                    </a:lnTo>
                    <a:lnTo>
                      <a:pt x="40000" y="50000"/>
                    </a:lnTo>
                    <a:lnTo>
                      <a:pt x="100000" y="50000"/>
                    </a:lnTo>
                    <a:lnTo>
                      <a:pt x="100000" y="80000"/>
                    </a:lnTo>
                    <a:lnTo>
                      <a:pt x="40000" y="80000"/>
                    </a:lnTo>
                    <a:lnTo>
                      <a:pt x="4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3" name="Google Shape;63;p14"/>
          <p:cNvSpPr txBox="1"/>
          <p:nvPr/>
        </p:nvSpPr>
        <p:spPr>
          <a:xfrm>
            <a:off x="457200" y="1047750"/>
            <a:ext cx="8229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uk" sz="27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Досьє якості v2. Продукт «ФінКит»</a:t>
            </a:r>
            <a:endParaRPr b="1" sz="2700">
              <a:solidFill>
                <a:srgbClr val="003B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b="0">
                <a:solidFill>
                  <a:srgbClr val="1A2530"/>
                </a:solidFill>
                <a:latin typeface="Inter"/>
                <a:ea typeface="Times New Roman"/>
                <a:cs typeface="Times New Roman"/>
                <a:sym typeface="Times New Roman"/>
              </a:rPr>
              <a:t>Підсумки Спринта 2: Аудит вимог і стратегія тестування</a:t>
            </a:r>
            <a:endParaRPr sz="1900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57200" y="2190750"/>
            <a:ext cx="8229600" cy="960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14"/>
          <p:cNvGrpSpPr/>
          <p:nvPr/>
        </p:nvGrpSpPr>
        <p:grpSpPr>
          <a:xfrm>
            <a:off x="457200" y="2428875"/>
            <a:ext cx="4953000" cy="2143200"/>
            <a:chOff x="0" y="0"/>
            <a:chExt cx="4953000" cy="21432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4953000" cy="2143200"/>
            </a:xfrm>
            <a:prstGeom prst="roundRect">
              <a:avLst>
                <a:gd fmla="val 1777" name="adj"/>
              </a:avLst>
            </a:prstGeom>
            <a:solidFill>
              <a:srgbClr val="F4F6F9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0" y="0"/>
              <a:ext cx="38100" cy="2143200"/>
            </a:xfrm>
            <a:prstGeom prst="rect">
              <a:avLst/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228600" y="190500"/>
              <a:ext cx="44958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uk" sz="13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Команда: Група D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40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Склад та ролі (ротація Спринта 2):</a:t>
              </a:r>
              <a:endParaRPr sz="15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300"/>
                </a:spcAft>
                <a:buSzPts val="1700"/>
                <a:buChar char="●"/>
              </a:pPr>
              <a:r>
                <a:rPr lang="uk" sz="14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Фомін Т. В. — Керівник тестування / Скрам-майстер</a:t>
              </a:r>
              <a:endParaRPr sz="15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300"/>
                </a:spcAft>
                <a:buSzPts val="1700"/>
                <a:buChar char="●"/>
              </a:pPr>
              <a:r>
                <a:rPr lang="uk" sz="14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Бугай Д. С. — Тест-аналітик</a:t>
              </a:r>
              <a:endParaRPr sz="15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0"/>
                </a:spcAft>
                <a:buSzPts val="1700"/>
                <a:buChar char="●"/>
              </a:pPr>
              <a:r>
                <a:rPr lang="uk" sz="14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Гонтар М. П. — Інженер з тестування</a:t>
              </a:r>
              <a:endParaRPr sz="15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5638800" y="2428875"/>
            <a:ext cx="3048000" cy="952500"/>
            <a:chOff x="0" y="0"/>
            <a:chExt cx="3048000" cy="9525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30480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0"/>
              <a:ext cx="3048000" cy="285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90500" y="152400"/>
              <a:ext cx="2667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1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Репозиторій проєкту</a:t>
              </a:r>
              <a:endParaRPr sz="120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https://github.com/0ffmama/FinKit</a:t>
              </a:r>
              <a:endParaRPr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5638800" y="3619500"/>
            <a:ext cx="3048000" cy="952500"/>
            <a:chOff x="0" y="0"/>
            <a:chExt cx="3048000" cy="95250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30480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0"/>
              <a:ext cx="3048000" cy="285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190500" y="152400"/>
              <a:ext cx="2667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1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Дата випуску</a:t>
              </a:r>
              <a:endParaRPr sz="110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2000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Жовтень 2026</a:t>
              </a:r>
              <a:endParaRPr b="1" sz="21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0" y="57150"/>
              <a:ext cx="9144000" cy="19200"/>
            </a:xfrm>
            <a:prstGeom prst="rect">
              <a:avLst/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8382000" y="304800"/>
            <a:ext cx="304800" cy="304800"/>
            <a:chOff x="0" y="0"/>
            <a:chExt cx="304800" cy="3048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625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95250" y="952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30000"/>
                  </a:lnTo>
                  <a:lnTo>
                    <a:pt x="40000" y="30000"/>
                  </a:lnTo>
                  <a:lnTo>
                    <a:pt x="40000" y="50000"/>
                  </a:lnTo>
                  <a:lnTo>
                    <a:pt x="100000" y="50000"/>
                  </a:lnTo>
                  <a:lnTo>
                    <a:pt x="100000" y="80000"/>
                  </a:lnTo>
                  <a:lnTo>
                    <a:pt x="40000" y="80000"/>
                  </a:lnTo>
                  <a:lnTo>
                    <a:pt x="4000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5"/>
          <p:cNvSpPr txBox="1"/>
          <p:nvPr/>
        </p:nvSpPr>
        <p:spPr>
          <a:xfrm>
            <a:off x="457200" y="342900"/>
            <a:ext cx="7620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uk" sz="24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Об'єкт аудиту та розподіл розділів SRS</a:t>
            </a:r>
            <a:endParaRPr b="1" sz="2600">
              <a:solidFill>
                <a:srgbClr val="003B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 b="0">
                <a:solidFill>
                  <a:srgbClr val="4A5568"/>
                </a:solidFill>
                <a:latin typeface="Inter"/>
                <a:ea typeface="Times New Roman"/>
                <a:cs typeface="Times New Roman"/>
                <a:sym typeface="Times New Roman"/>
              </a:rPr>
              <a:t>Специфікація SRS_02_ФінКит (v1.0) і межі перевірки</a:t>
            </a:r>
            <a:endParaRPr sz="1600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57200" y="1190625"/>
            <a:ext cx="8229600" cy="960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419600" y="1381125"/>
            <a:ext cx="9600" cy="342900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5"/>
          <p:cNvGrpSpPr/>
          <p:nvPr/>
        </p:nvGrpSpPr>
        <p:grpSpPr>
          <a:xfrm>
            <a:off x="466800" y="1419150"/>
            <a:ext cx="3733800" cy="3286125"/>
            <a:chOff x="0" y="0"/>
            <a:chExt cx="3733800" cy="3286125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3733800" cy="1619100"/>
            </a:xfrm>
            <a:prstGeom prst="roundRect">
              <a:avLst>
                <a:gd fmla="val 2352" name="adj"/>
              </a:avLst>
            </a:prstGeom>
            <a:solidFill>
              <a:srgbClr val="F4F6F9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52400" y="109728"/>
              <a:ext cx="3429000" cy="8229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uk" sz="110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Об'єкт аудиту (SRS 1.0)</a:t>
              </a:r>
              <a:endParaRPr sz="11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Специфікація охоплює вебзастосунок </a:t>
              </a:r>
              <a:r>
                <a:rPr sz="1150" b="1">
                  <a:solidFill>
                    <a:srgbClr val="1A2530"/>
                  </a:solidFill>
                  <a:latin typeface="Inter"/>
                </a:rPr>
                <a:t>ParaBank (F, GUI, P, S, U, D)</a:t>
              </a:r>
              <a:r>
                <a:rPr sz="1150" b="0">
                  <a:solidFill>
                    <a:srgbClr val="1A2530"/>
                  </a:solidFill>
                  <a:latin typeface="Inter"/>
                </a:rPr>
                <a:t> та Java-модуль бізнес-логіки </a:t>
              </a:r>
              <a:r>
                <a:rPr sz="1150" b="1">
                  <a:solidFill>
                    <a:srgbClr val="1A2530"/>
                  </a:solidFill>
                  <a:latin typeface="Inter"/>
                </a:rPr>
                <a:t>(BL-10..BL-80).</a:t>
              </a:r>
              <a:endParaRPr sz="11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5"/>
            <p:cNvGrpSpPr/>
            <p:nvPr/>
          </p:nvGrpSpPr>
          <p:grpSpPr>
            <a:xfrm>
              <a:off x="152400" y="990600"/>
              <a:ext cx="3429000" cy="495300"/>
              <a:chOff x="0" y="0"/>
              <a:chExt cx="3429000" cy="4953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0" y="0"/>
                <a:ext cx="3429000" cy="495300"/>
              </a:xfrm>
              <a:prstGeom prst="roundRect">
                <a:avLst>
                  <a:gd fmla="val 769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114300" y="57150"/>
                <a:ext cx="3200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50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39 вимог </a:t>
                </a:r>
                <a:r>
                  <a:rPr sz="1150" b="0">
                    <a:solidFill>
                      <a:srgbClr val="1A2530"/>
                    </a:solidFill>
                    <a:latin typeface="Inter"/>
                  </a:rPr>
                  <a:t>у 6 розділах SRS 1.0</a:t>
                </a:r>
                <a:endParaRPr b="1" sz="2000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7" name="Google Shape;97;p15"/>
            <p:cNvGrpSpPr/>
            <p:nvPr/>
          </p:nvGrpSpPr>
          <p:grpSpPr>
            <a:xfrm>
              <a:off x="0" y="1762125"/>
              <a:ext cx="3733800" cy="1524000"/>
              <a:chOff x="0" y="0"/>
              <a:chExt cx="3733800" cy="1524000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0" y="0"/>
                <a:ext cx="3733800" cy="1524000"/>
              </a:xfrm>
              <a:prstGeom prst="roundRect">
                <a:avLst>
                  <a:gd fmla="val 2500" name="adj"/>
                </a:avLst>
              </a:prstGeom>
              <a:solidFill>
                <a:srgbClr val="FFF5F5"/>
              </a:solidFill>
              <a:ln cap="flat" cmpd="sng" w="9525">
                <a:solidFill>
                  <a:srgbClr val="B33A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0" y="0"/>
                <a:ext cx="38100" cy="1524000"/>
              </a:xfrm>
              <a:prstGeom prst="roundRect">
                <a:avLst>
                  <a:gd fmla="val 0" name="adj"/>
                </a:avLst>
              </a:prstGeom>
              <a:solidFill>
                <a:srgbClr val="B33A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5"/>
              <p:cNvSpPr txBox="1"/>
              <p:nvPr/>
            </p:nvSpPr>
            <p:spPr>
              <a:xfrm>
                <a:off x="190500" y="109728"/>
                <a:ext cx="3352800" cy="1298448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uk" sz="1150" b="1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Головне завдання Спринта 2</a:t>
                </a:r>
                <a:endParaRPr sz="1200">
                  <a:solidFill>
                    <a:srgbClr val="B33A3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uk" sz="11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Виявлення та усунення дефектів вимог за </a:t>
                </a:r>
                <a:r>
                  <a:rPr sz="1150" b="1">
                    <a:solidFill>
                      <a:srgbClr val="1A2530"/>
                    </a:solidFill>
                    <a:latin typeface="Inter"/>
                  </a:rPr>
                  <a:t>6 критеріями якості</a:t>
                </a:r>
                <a:r>
                  <a:rPr sz="1150" b="0">
                    <a:solidFill>
                      <a:srgbClr val="1A2530"/>
                    </a:solidFill>
                    <a:latin typeface="Inter"/>
                  </a:rPr>
                  <a:t> до початку тест-дизайну.</a:t>
                </a:r>
                <a:endParaRPr sz="1200">
                  <a:solidFill>
                    <a:srgbClr val="B33A3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Побудова повної стратегії тестування (7 рівнів і 24 типи).</a:t>
                </a:r>
                <a:endParaRPr sz="1200">
                  <a:solidFill>
                    <a:srgbClr val="B33A3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1" name="Google Shape;101;p15"/>
          <p:cNvGrpSpPr/>
          <p:nvPr/>
        </p:nvGrpSpPr>
        <p:grpSpPr>
          <a:xfrm>
            <a:off x="4648200" y="1381125"/>
            <a:ext cx="4038600" cy="3238500"/>
            <a:chOff x="0" y="0"/>
            <a:chExt cx="4038600" cy="3238500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0" y="0"/>
              <a:ext cx="40386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Подвійний незалежний аудит розділів (4 блоки)</a:t>
              </a:r>
              <a:endParaRPr sz="125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3" name="Google Shape;103;p15"/>
            <p:cNvGrpSpPr/>
            <p:nvPr/>
          </p:nvGrpSpPr>
          <p:grpSpPr>
            <a:xfrm>
              <a:off x="0" y="266700"/>
              <a:ext cx="4038600" cy="685800"/>
              <a:chOff x="0" y="0"/>
              <a:chExt cx="4038600" cy="685800"/>
            </a:xfrm>
          </p:grpSpPr>
          <p:sp>
            <p:nvSpPr>
              <p:cNvPr id="104" name="Google Shape;104;p15"/>
              <p:cNvSpPr/>
              <p:nvPr/>
            </p:nvSpPr>
            <p:spPr>
              <a:xfrm>
                <a:off x="0" y="0"/>
                <a:ext cx="4038600" cy="685800"/>
              </a:xfrm>
              <a:prstGeom prst="roundRect">
                <a:avLst>
                  <a:gd fmla="val 5555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0" y="0"/>
                <a:ext cx="38100" cy="6858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5"/>
              <p:cNvSpPr txBox="1"/>
              <p:nvPr/>
            </p:nvSpPr>
            <p:spPr>
              <a:xfrm>
                <a:off x="190500" y="73152"/>
                <a:ext cx="3695700" cy="54864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b="1" lang="uk" sz="1150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Розділи 1–3 (Вступ, Ролі, F-10..F-140)</a:t>
                </a:r>
                <a:endParaRPr b="1" sz="1350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Фомін Т. В. + Бугай Д. С.: 14 функціональних вимог кабінету.</a:t>
                </a:r>
                <a:endParaRPr sz="1250">
                  <a:solidFill>
                    <a:srgbClr val="1A253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7" name="Google Shape;107;p15"/>
            <p:cNvGrpSpPr/>
            <p:nvPr/>
          </p:nvGrpSpPr>
          <p:grpSpPr>
            <a:xfrm>
              <a:off x="0" y="1028700"/>
              <a:ext cx="4038600" cy="685800"/>
              <a:chOff x="0" y="0"/>
              <a:chExt cx="4038600" cy="685800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0" y="0"/>
                <a:ext cx="4038600" cy="685800"/>
              </a:xfrm>
              <a:prstGeom prst="roundRect">
                <a:avLst>
                  <a:gd fmla="val 5555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38100" cy="6858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190500" y="73152"/>
                <a:ext cx="3695700" cy="54864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b="1" lang="uk" sz="1150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Розділ 4 (Інтерфейс GUI-10..GUI-80)</a:t>
                </a:r>
                <a:endParaRPr b="1" sz="1271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Фомін Т. В. + Гонтар М. П.: 9 вимог до форм і валідації полів.</a:t>
                </a:r>
                <a:endParaRPr sz="1179">
                  <a:solidFill>
                    <a:srgbClr val="1A253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1" name="Google Shape;111;p15"/>
            <p:cNvGrpSpPr/>
            <p:nvPr/>
          </p:nvGrpSpPr>
          <p:grpSpPr>
            <a:xfrm>
              <a:off x="0" y="1790700"/>
              <a:ext cx="4038600" cy="685800"/>
              <a:chOff x="0" y="0"/>
              <a:chExt cx="4038600" cy="685800"/>
            </a:xfrm>
          </p:grpSpPr>
          <p:sp>
            <p:nvSpPr>
              <p:cNvPr id="112" name="Google Shape;112;p15"/>
              <p:cNvSpPr/>
              <p:nvPr/>
            </p:nvSpPr>
            <p:spPr>
              <a:xfrm>
                <a:off x="0" y="0"/>
                <a:ext cx="4038600" cy="685800"/>
              </a:xfrm>
              <a:prstGeom prst="roundRect">
                <a:avLst>
                  <a:gd fmla="val 5555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38100" cy="685800"/>
              </a:xfrm>
              <a:prstGeom prst="roundRect">
                <a:avLst>
                  <a:gd fmla="val 0" name="adj"/>
                </a:avLst>
              </a:prstGeom>
              <a:solidFill>
                <a:srgbClr val="C59B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190500" y="73152"/>
                <a:ext cx="3695700" cy="54864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b="1" lang="uk" sz="1150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Розділ 5 (Бізнес-логіка BL-10..BL-80)</a:t>
                </a:r>
                <a:endParaRPr b="1" sz="1271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Бугай Д. С. + Гонтар М. П.: LoanCalculator, Validator, Ledger.</a:t>
                </a:r>
                <a:endParaRPr sz="1179">
                  <a:solidFill>
                    <a:srgbClr val="1A253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0" y="2552700"/>
              <a:ext cx="4038600" cy="685800"/>
              <a:chOff x="0" y="0"/>
              <a:chExt cx="4038600" cy="6858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0" y="0"/>
                <a:ext cx="4038600" cy="685800"/>
              </a:xfrm>
              <a:prstGeom prst="roundRect">
                <a:avLst>
                  <a:gd fmla="val 5555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38100" cy="6858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190500" y="73152"/>
                <a:ext cx="3695700" cy="54864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b="1" lang="uk" sz="1150">
                    <a:solidFill>
                      <a:srgbClr val="003B73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Розділ 6 (Нефункціональні P, S, U, D)</a:t>
                </a:r>
                <a:endParaRPr b="1" sz="1271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50" b="0">
                    <a:solidFill>
                      <a:srgbClr val="1A2530"/>
                    </a:solidFill>
                    <a:latin typeface="Inter"/>
                    <a:ea typeface="Times New Roman"/>
                    <a:cs typeface="Times New Roman"/>
                    <a:sym typeface="Times New Roman"/>
                  </a:rPr>
                  <a:t>Бугай Д. С. + Гонтар М. П.: швидкодія, сесії, юзабіліті й довідка.</a:t>
                </a:r>
                <a:endParaRPr sz="1179">
                  <a:solidFill>
                    <a:srgbClr val="1A253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16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0" y="57150"/>
              <a:ext cx="9144000" cy="19200"/>
            </a:xfrm>
            <a:prstGeom prst="rect">
              <a:avLst/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8382000" y="266700"/>
            <a:ext cx="304800" cy="304800"/>
            <a:chOff x="0" y="0"/>
            <a:chExt cx="304800" cy="3048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625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95250" y="952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30000"/>
                  </a:lnTo>
                  <a:lnTo>
                    <a:pt x="40000" y="30000"/>
                  </a:lnTo>
                  <a:lnTo>
                    <a:pt x="40000" y="50000"/>
                  </a:lnTo>
                  <a:lnTo>
                    <a:pt x="100000" y="50000"/>
                  </a:lnTo>
                  <a:lnTo>
                    <a:pt x="100000" y="80000"/>
                  </a:lnTo>
                  <a:lnTo>
                    <a:pt x="40000" y="80000"/>
                  </a:lnTo>
                  <a:lnTo>
                    <a:pt x="4000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6"/>
          <p:cNvSpPr txBox="1"/>
          <p:nvPr/>
        </p:nvSpPr>
        <p:spPr>
          <a:xfrm>
            <a:off x="457200" y="304800"/>
            <a:ext cx="7620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uk" sz="2300">
                <a:solidFill>
                  <a:srgbClr val="003B73"/>
                </a:solidFill>
                <a:latin typeface="Inter"/>
                <a:ea typeface="Inter"/>
                <a:cs typeface="Inter"/>
                <a:sym typeface="Inter"/>
              </a:rPr>
              <a:t>Методика аудиту та командна взаємодія</a:t>
            </a:r>
            <a:endParaRPr b="1" sz="2600">
              <a:solidFill>
                <a:srgbClr val="003B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 b="0">
                <a:solidFill>
                  <a:srgbClr val="4A5568"/>
                </a:solidFill>
                <a:latin typeface="Inter"/>
                <a:ea typeface="Times New Roman"/>
                <a:cs typeface="Times New Roman"/>
                <a:sym typeface="Times New Roman"/>
              </a:rPr>
              <a:t>Організація роботи команди у Спринті 2</a:t>
            </a:r>
            <a:endParaRPr sz="1800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0"/>
            <a:ext cx="91440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6"/>
          <p:cNvGrpSpPr/>
          <p:nvPr/>
        </p:nvGrpSpPr>
        <p:grpSpPr>
          <a:xfrm>
            <a:off x="457200" y="1371600"/>
            <a:ext cx="3981600" cy="1581300"/>
            <a:chOff x="0" y="0"/>
            <a:chExt cx="3981600" cy="1581300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39816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228600" y="109728"/>
              <a:ext cx="35244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01. Ротація ролей</a:t>
              </a:r>
              <a:endParaRPr sz="1100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Полегшений Scrum &amp; Нові ролі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Виконано обов'язкову ротацію ролей за Статутом: КТ/СМ — Фомін Т. В., ТА — Бугай Д. С., ІТ — Гонтар М. П.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4705350" y="1371600"/>
            <a:ext cx="3981600" cy="1581300"/>
            <a:chOff x="0" y="0"/>
            <a:chExt cx="3981600" cy="15813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39816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28600" y="109728"/>
              <a:ext cx="35244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02. Методи аналізу</a:t>
              </a:r>
              <a:endParaRPr sz="1100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6 критеріїв якості &amp; Подвійна читка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Кожен розділ SRS 1.0 незалежно перевірено двома учасниками за чек-листами 6 критеріїв якості вимог.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457200" y="3181350"/>
            <a:ext cx="3981600" cy="1581300"/>
            <a:chOff x="0" y="0"/>
            <a:chExt cx="3981600" cy="1581300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39816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228600" y="109728"/>
              <a:ext cx="35244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03. Модерація та рев'ю</a:t>
              </a:r>
              <a:endParaRPr sz="1100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«Адвокат замовника» &amp; Peer-Review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КТ/СМ модерував обговорення спірних знахідок, відсіявши 2 хибні записи.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Принцип: 1 задача = 1 виконавець = 1 рецензент.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4705350" y="3181350"/>
            <a:ext cx="3981600" cy="1581300"/>
            <a:chOff x="0" y="0"/>
            <a:chExt cx="3981600" cy="1581300"/>
          </a:xfrm>
        </p:grpSpPr>
        <p:sp>
          <p:nvSpPr>
            <p:cNvPr id="146" name="Google Shape;146;p16"/>
            <p:cNvSpPr/>
            <p:nvPr/>
          </p:nvSpPr>
          <p:spPr>
            <a:xfrm>
              <a:off x="0" y="0"/>
              <a:ext cx="39816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228600" y="109728"/>
              <a:ext cx="35244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04. Збереження даних</a:t>
              </a:r>
              <a:endParaRPr sz="1100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GitHub Версіонування Досьє v2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0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Усі оновлені артефакти Спринта 2 зафіксовані у репозиторії проєкту: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 b="1">
                  <a:solidFill>
                    <a:srgbClr val="003B73"/>
                  </a:solidFill>
                  <a:highlight>
                    <a:srgbClr val="EBF0F5"/>
                  </a:highlight>
                  <a:latin typeface="Inter"/>
                  <a:ea typeface="Times New Roman"/>
                  <a:cs typeface="Times New Roman"/>
                  <a:sym typeface="Times New Roman"/>
                </a:rPr>
                <a:t>docs/team/ та docs/sprint2/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" name="Google Shape;155;p17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156" name="Google Shape;156;p17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0" y="57150"/>
                <a:ext cx="9144000" cy="19200"/>
              </a:xfrm>
              <a:prstGeom prst="rect">
                <a:avLst/>
              </a:prstGeom>
              <a:solidFill>
                <a:srgbClr val="C59B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17"/>
            <p:cNvGrpSpPr/>
            <p:nvPr/>
          </p:nvGrpSpPr>
          <p:grpSpPr>
            <a:xfrm>
              <a:off x="8382000" y="304800"/>
              <a:ext cx="304800" cy="304800"/>
              <a:chOff x="0" y="0"/>
              <a:chExt cx="304800" cy="304800"/>
            </a:xfrm>
          </p:grpSpPr>
          <p:sp>
            <p:nvSpPr>
              <p:cNvPr id="159" name="Google Shape;159;p17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  <a:lnTo>
                      <a:pt x="120000" y="30000"/>
                    </a:lnTo>
                    <a:lnTo>
                      <a:pt x="40000" y="30000"/>
                    </a:lnTo>
                    <a:lnTo>
                      <a:pt x="40000" y="50000"/>
                    </a:lnTo>
                    <a:lnTo>
                      <a:pt x="100000" y="50000"/>
                    </a:lnTo>
                    <a:lnTo>
                      <a:pt x="100000" y="80000"/>
                    </a:lnTo>
                    <a:lnTo>
                      <a:pt x="40000" y="80000"/>
                    </a:lnTo>
                    <a:lnTo>
                      <a:pt x="4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17"/>
            <p:cNvSpPr txBox="1"/>
            <p:nvPr/>
          </p:nvSpPr>
          <p:spPr>
            <a:xfrm>
              <a:off x="457200" y="310896"/>
              <a:ext cx="7620000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1" lang="uk" sz="2200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Еволюція вимог: від SRS 1.0 до SRS 1.1</a:t>
              </a:r>
              <a:endParaRPr b="1" sz="234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500" b="0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Конвеєр аудиту вимог та збереження простежуваності</a:t>
              </a:r>
              <a:endParaRPr sz="166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457200" y="1238250"/>
              <a:ext cx="8229600" cy="9600"/>
            </a:xfrm>
            <a:prstGeom prst="rect">
              <a:avLst/>
            </a:prstGeom>
            <a:solidFill>
              <a:srgbClr val="DDE2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4572000" y="1524000"/>
              <a:ext cx="9600" cy="3238500"/>
            </a:xfrm>
            <a:prstGeom prst="rect">
              <a:avLst/>
            </a:prstGeom>
            <a:solidFill>
              <a:srgbClr val="DDE2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7"/>
          <p:cNvSpPr txBox="1"/>
          <p:nvPr/>
        </p:nvSpPr>
        <p:spPr>
          <a:xfrm>
            <a:off x="457200" y="1417320"/>
            <a:ext cx="3810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uk" sz="1200" b="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Під час аудиту специфікації SRS 1.0 виявлено конфлікти лімітів переказів і сум кредиту, дублювання ідентифікаторів та нездійсненні вимоги (перевірка у всіх банках світу, доступ до реєстру НБУ без мережі). Кожен запис реєстру містить точну цитату й пункт чек-листа.</a:t>
            </a:r>
            <a:endParaRPr sz="1300">
              <a:solidFill>
                <a:srgbClr val="1A25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b="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 виправленій версії SRS-1.1.md на початку додано Журнал змін на 23 позиції. Наявні ідентифікатори збережено без перенумерації: дублікат F-140 вилучено зі збереженням позначки, а новим рядкам присвоєно ID GUI-45 та GUI-75.</a:t>
            </a:r>
            <a:endParaRPr sz="1300">
              <a:solidFill>
                <a:srgbClr val="1A25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5" name="Google Shape;165;p17"/>
          <p:cNvGrpSpPr/>
          <p:nvPr/>
        </p:nvGrpSpPr>
        <p:grpSpPr>
          <a:xfrm>
            <a:off x="4876800" y="1476375"/>
            <a:ext cx="3810000" cy="3267075"/>
            <a:chOff x="0" y="0"/>
            <a:chExt cx="3810000" cy="3267075"/>
          </a:xfrm>
        </p:grpSpPr>
        <p:sp>
          <p:nvSpPr>
            <p:cNvPr id="166" name="Google Shape;166;p17"/>
            <p:cNvSpPr txBox="1"/>
            <p:nvPr/>
          </p:nvSpPr>
          <p:spPr>
            <a:xfrm>
              <a:off x="0" y="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0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Конвеєр аудиту та простежуваності вимог</a:t>
              </a:r>
              <a:endParaRPr b="0" sz="10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67" name="Google Shape;167;p17"/>
            <p:cNvGrpSpPr/>
            <p:nvPr/>
          </p:nvGrpSpPr>
          <p:grpSpPr>
            <a:xfrm>
              <a:off x="0" y="304800"/>
              <a:ext cx="3810000" cy="571500"/>
              <a:chOff x="0" y="0"/>
              <a:chExt cx="3810000" cy="5715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3810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0" y="0"/>
                <a:ext cx="411480" cy="5715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0" y="0"/>
                <a:ext cx="41148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FFFFFF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v1.0</a:t>
                </a:r>
                <a:endParaRPr b="0" sz="62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476250" y="114300"/>
                <a:ext cx="13335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523875" y="133350"/>
                <a:ext cx="129844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SRS 1.0 (39 вимог)</a:t>
                </a:r>
                <a:endParaRPr b="0" sz="8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3" name="Google Shape;173;p17"/>
            <p:cNvGrpSpPr/>
            <p:nvPr/>
          </p:nvGrpSpPr>
          <p:grpSpPr>
            <a:xfrm>
              <a:off x="1104900" y="876300"/>
              <a:ext cx="1562250" cy="247650"/>
              <a:chOff x="1104900" y="876300"/>
              <a:chExt cx="1562250" cy="247650"/>
            </a:xfrm>
          </p:grpSpPr>
          <p:pic>
            <p:nvPicPr>
              <p:cNvPr id="174" name="Google Shape;174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33475" y="876300"/>
                <a:ext cx="192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" name="Google Shape;175;p17"/>
              <p:cNvSpPr/>
              <p:nvPr/>
            </p:nvSpPr>
            <p:spPr>
              <a:xfrm>
                <a:off x="1104900" y="104775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5C6B7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1238250" y="914400"/>
                <a:ext cx="1428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80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Незалежний аудит</a:t>
                </a:r>
                <a:endParaRPr/>
              </a:p>
            </p:txBody>
          </p:sp>
        </p:grpSp>
        <p:grpSp>
          <p:nvGrpSpPr>
            <p:cNvPr id="177" name="Google Shape;177;p17"/>
            <p:cNvGrpSpPr/>
            <p:nvPr/>
          </p:nvGrpSpPr>
          <p:grpSpPr>
            <a:xfrm>
              <a:off x="0" y="1143000"/>
              <a:ext cx="3810000" cy="1285800"/>
              <a:chOff x="0" y="0"/>
              <a:chExt cx="3810000" cy="1285800"/>
            </a:xfrm>
          </p:grpSpPr>
          <p:sp>
            <p:nvSpPr>
              <p:cNvPr id="178" name="Google Shape;178;p17"/>
              <p:cNvSpPr/>
              <p:nvPr/>
            </p:nvSpPr>
            <p:spPr>
              <a:xfrm>
                <a:off x="0" y="0"/>
                <a:ext cx="3810000" cy="1285800"/>
              </a:xfrm>
              <a:prstGeom prst="roundRect">
                <a:avLst>
                  <a:gd fmla="val 2962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0" y="0"/>
                <a:ext cx="411480" cy="12858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 txBox="1"/>
              <p:nvPr/>
            </p:nvSpPr>
            <p:spPr>
              <a:xfrm>
                <a:off x="0" y="0"/>
                <a:ext cx="41148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FFFFFF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QA</a:t>
                </a:r>
                <a:endParaRPr b="0" sz="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pic>
            <p:nvPicPr>
              <p:cNvPr id="181" name="Google Shape;181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4800" y="423863"/>
                <a:ext cx="34863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17"/>
              <p:cNvSpPr txBox="1"/>
              <p:nvPr/>
            </p:nvSpPr>
            <p:spPr>
              <a:xfrm>
                <a:off x="438912" y="38100"/>
                <a:ext cx="6858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78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6 критеріїв</a:t>
                </a:r>
                <a:endParaRPr b="0" sz="700">
                  <a:solidFill>
                    <a:srgbClr val="5C6B7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pic>
            <p:nvPicPr>
              <p:cNvPr id="183" name="Google Shape;183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4800" y="852488"/>
                <a:ext cx="34863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17"/>
              <p:cNvSpPr txBox="1"/>
              <p:nvPr/>
            </p:nvSpPr>
            <p:spPr>
              <a:xfrm>
                <a:off x="438912" y="466725"/>
                <a:ext cx="6858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78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Модерація</a:t>
                </a:r>
                <a:endParaRPr b="0" sz="700">
                  <a:solidFill>
                    <a:srgbClr val="5C6B7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185" name="Google Shape;185;p17"/>
              <p:cNvGrpSpPr/>
              <p:nvPr/>
            </p:nvGrpSpPr>
            <p:grpSpPr>
              <a:xfrm>
                <a:off x="1104900" y="80963"/>
                <a:ext cx="266700" cy="280470"/>
                <a:chOff x="-133350" y="-133350"/>
                <a:chExt cx="266700" cy="280470"/>
              </a:xfrm>
            </p:grpSpPr>
            <p:sp>
              <p:nvSpPr>
                <p:cNvPr id="186" name="Google Shape;186;p17"/>
                <p:cNvSpPr/>
                <p:nvPr/>
              </p:nvSpPr>
              <p:spPr>
                <a:xfrm>
                  <a:off x="-133350" y="-133350"/>
                  <a:ext cx="266700" cy="2667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60000"/>
                      </a:lnTo>
                      <a:lnTo>
                        <a:pt x="60000" y="120000"/>
                      </a:lnTo>
                      <a:lnTo>
                        <a:pt x="0" y="60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 cmpd="sng" w="14300">
                  <a:solidFill>
                    <a:srgbClr val="003B7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17"/>
                <p:cNvSpPr txBox="1"/>
                <p:nvPr/>
              </p:nvSpPr>
              <p:spPr>
                <a:xfrm>
                  <a:off x="-41205" y="-68580"/>
                  <a:ext cx="82500" cy="21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uk" sz="850">
                      <a:solidFill>
                        <a:srgbClr val="003B7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+</a:t>
                  </a:r>
                  <a:endParaRPr b="1" sz="893">
                    <a:solidFill>
                      <a:srgbClr val="003B7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188" name="Google Shape;188;p17"/>
              <p:cNvSpPr/>
              <p:nvPr/>
            </p:nvSpPr>
            <p:spPr>
              <a:xfrm>
                <a:off x="1371600" y="95250"/>
                <a:ext cx="390600" cy="1191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90732" y="120000"/>
                    </a:lnTo>
                    <a:lnTo>
                      <a:pt x="90732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1743075" y="66675"/>
                <a:ext cx="66600" cy="573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1371600" y="214313"/>
                <a:ext cx="390600" cy="1191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90732" y="0"/>
                    </a:lnTo>
                    <a:lnTo>
                      <a:pt x="90732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743075" y="304800"/>
                <a:ext cx="66600" cy="573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809750" y="9525"/>
                <a:ext cx="9525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7"/>
              <p:cNvSpPr txBox="1"/>
              <p:nvPr/>
            </p:nvSpPr>
            <p:spPr>
              <a:xfrm>
                <a:off x="1809750" y="9525"/>
                <a:ext cx="95250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78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24 прийнято</a:t>
                </a:r>
                <a:endParaRPr b="0" sz="65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1809750" y="247650"/>
                <a:ext cx="9525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7"/>
              <p:cNvSpPr txBox="1"/>
              <p:nvPr/>
            </p:nvSpPr>
            <p:spPr>
              <a:xfrm>
                <a:off x="1809750" y="247650"/>
                <a:ext cx="952500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78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2 відхилено</a:t>
                </a:r>
                <a:endParaRPr b="0" sz="65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2762250" y="95250"/>
                <a:ext cx="171600" cy="1191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6667" y="0"/>
                    </a:lnTo>
                    <a:lnTo>
                      <a:pt x="66667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2762250" y="214313"/>
                <a:ext cx="171600" cy="1191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6667" y="120000"/>
                    </a:lnTo>
                    <a:lnTo>
                      <a:pt x="66667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8" name="Google Shape;198;p17"/>
              <p:cNvGrpSpPr/>
              <p:nvPr/>
            </p:nvGrpSpPr>
            <p:grpSpPr>
              <a:xfrm>
                <a:off x="2933700" y="80963"/>
                <a:ext cx="266700" cy="280470"/>
                <a:chOff x="-133350" y="-133350"/>
                <a:chExt cx="266700" cy="280470"/>
              </a:xfrm>
            </p:grpSpPr>
            <p:sp>
              <p:nvSpPr>
                <p:cNvPr id="199" name="Google Shape;199;p17"/>
                <p:cNvSpPr/>
                <p:nvPr/>
              </p:nvSpPr>
              <p:spPr>
                <a:xfrm>
                  <a:off x="-133350" y="-133350"/>
                  <a:ext cx="266700" cy="2667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120000" y="60000"/>
                      </a:lnTo>
                      <a:lnTo>
                        <a:pt x="60000" y="120000"/>
                      </a:lnTo>
                      <a:lnTo>
                        <a:pt x="0" y="60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 cmpd="sng" w="14300">
                  <a:solidFill>
                    <a:srgbClr val="003B7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17"/>
                <p:cNvSpPr txBox="1"/>
                <p:nvPr/>
              </p:nvSpPr>
              <p:spPr>
                <a:xfrm>
                  <a:off x="-41205" y="-68580"/>
                  <a:ext cx="82500" cy="21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uk" sz="850">
                      <a:solidFill>
                        <a:srgbClr val="003B7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+</a:t>
                  </a:r>
                  <a:endParaRPr b="1" sz="893">
                    <a:solidFill>
                      <a:srgbClr val="003B7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201" name="Google Shape;201;p17"/>
              <p:cNvSpPr txBox="1"/>
              <p:nvPr/>
            </p:nvSpPr>
            <p:spPr>
              <a:xfrm>
                <a:off x="1143000" y="933450"/>
                <a:ext cx="2571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003B73"/>
                    </a:solidFill>
                    <a:latin typeface="Inter"/>
                    <a:ea typeface="Inter"/>
                    <a:cs typeface="Inter"/>
                    <a:sym typeface="Inter"/>
                  </a:rPr>
                  <a:t>Дедуплікація та верифікація (Адвокат замовника)</a:t>
                </a:r>
                <a:endParaRPr/>
              </a:p>
            </p:txBody>
          </p:sp>
        </p:grpSp>
        <p:grpSp>
          <p:nvGrpSpPr>
            <p:cNvPr id="202" name="Google Shape;202;p17"/>
            <p:cNvGrpSpPr/>
            <p:nvPr/>
          </p:nvGrpSpPr>
          <p:grpSpPr>
            <a:xfrm>
              <a:off x="1866900" y="2428875"/>
              <a:ext cx="1847850" cy="247650"/>
              <a:chOff x="1866900" y="2428875"/>
              <a:chExt cx="1847850" cy="247650"/>
            </a:xfrm>
          </p:grpSpPr>
          <p:pic>
            <p:nvPicPr>
              <p:cNvPr id="203" name="Google Shape;20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95475" y="2428875"/>
                <a:ext cx="192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" name="Google Shape;204;p17"/>
              <p:cNvSpPr/>
              <p:nvPr/>
            </p:nvSpPr>
            <p:spPr>
              <a:xfrm>
                <a:off x="1866900" y="2600325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5C6B7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7"/>
              <p:cNvSpPr txBox="1"/>
              <p:nvPr/>
            </p:nvSpPr>
            <p:spPr>
              <a:xfrm>
                <a:off x="2000250" y="2457450"/>
                <a:ext cx="1714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80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Журнал змін (23)</a:t>
                </a:r>
                <a:endParaRPr/>
              </a:p>
            </p:txBody>
          </p:sp>
        </p:grpSp>
        <p:grpSp>
          <p:nvGrpSpPr>
            <p:cNvPr id="206" name="Google Shape;206;p17"/>
            <p:cNvGrpSpPr/>
            <p:nvPr/>
          </p:nvGrpSpPr>
          <p:grpSpPr>
            <a:xfrm>
              <a:off x="0" y="2695575"/>
              <a:ext cx="3810000" cy="571500"/>
              <a:chOff x="0" y="0"/>
              <a:chExt cx="3810000" cy="571500"/>
            </a:xfrm>
          </p:grpSpPr>
          <p:sp>
            <p:nvSpPr>
              <p:cNvPr id="207" name="Google Shape;207;p17"/>
              <p:cNvSpPr/>
              <p:nvPr/>
            </p:nvSpPr>
            <p:spPr>
              <a:xfrm>
                <a:off x="0" y="0"/>
                <a:ext cx="3810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0" y="0"/>
                <a:ext cx="411480" cy="571500"/>
              </a:xfrm>
              <a:prstGeom prst="roundRect">
                <a:avLst>
                  <a:gd fmla="val 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7"/>
              <p:cNvSpPr txBox="1"/>
              <p:nvPr/>
            </p:nvSpPr>
            <p:spPr>
              <a:xfrm>
                <a:off x="0" y="0"/>
                <a:ext cx="41148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FFFFFF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v1.1</a:t>
                </a:r>
                <a:endParaRPr b="0" sz="33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476250" y="114300"/>
                <a:ext cx="1428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B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7"/>
              <p:cNvSpPr txBox="1"/>
              <p:nvPr/>
            </p:nvSpPr>
            <p:spPr>
              <a:xfrm>
                <a:off x="523875" y="1333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0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SRS-1.1 + Тест-план</a:t>
                </a:r>
                <a:endParaRPr b="0" sz="75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212" name="Google Shape;212;p17"/>
              <p:cNvGrpSpPr/>
              <p:nvPr/>
            </p:nvGrpSpPr>
            <p:grpSpPr>
              <a:xfrm>
                <a:off x="2114550" y="190500"/>
                <a:ext cx="1581150" cy="190500"/>
                <a:chOff x="19050" y="19050"/>
                <a:chExt cx="1581150" cy="190500"/>
              </a:xfrm>
            </p:grpSpPr>
            <p:sp>
              <p:nvSpPr>
                <p:cNvPr id="213" name="Google Shape;213;p17"/>
                <p:cNvSpPr/>
                <p:nvPr/>
              </p:nvSpPr>
              <p:spPr>
                <a:xfrm>
                  <a:off x="19050" y="19050"/>
                  <a:ext cx="190500" cy="190500"/>
                </a:xfrm>
                <a:prstGeom prst="ellipse">
                  <a:avLst/>
                </a:prstGeom>
                <a:solidFill>
                  <a:srgbClr val="E6F2E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7"/>
                <p:cNvSpPr/>
                <p:nvPr/>
              </p:nvSpPr>
              <p:spPr>
                <a:xfrm>
                  <a:off x="66675" y="76200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08A3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" name="Google Shape;215;p17"/>
                <p:cNvSpPr txBox="1"/>
                <p:nvPr/>
              </p:nvSpPr>
              <p:spPr>
                <a:xfrm>
                  <a:off x="266700" y="19050"/>
                  <a:ext cx="1333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uk" sz="780">
                      <a:solidFill>
                        <a:srgbClr val="1E7E34"/>
                      </a:solidFill>
                      <a:latin typeface="Inter"/>
                      <a:ea typeface="Inter SemiBold"/>
                      <a:cs typeface="Inter SemiBold"/>
                      <a:sym typeface="Inter SemiBold"/>
                    </a:rPr>
                    <a:t>Простежуваність ID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8"/>
          <p:cNvGrpSpPr/>
          <p:nvPr/>
        </p:nvGrpSpPr>
        <p:grpSpPr>
          <a:xfrm>
            <a:off x="0" y="0"/>
            <a:ext cx="9601200" cy="5143500"/>
            <a:chOff x="0" y="0"/>
            <a:chExt cx="9601200" cy="514350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" name="Google Shape;222;p18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223" name="Google Shape;223;p18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0" y="57150"/>
                <a:ext cx="9144000" cy="19200"/>
              </a:xfrm>
              <a:prstGeom prst="rect">
                <a:avLst/>
              </a:prstGeom>
              <a:solidFill>
                <a:srgbClr val="C59B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18"/>
            <p:cNvGrpSpPr/>
            <p:nvPr/>
          </p:nvGrpSpPr>
          <p:grpSpPr>
            <a:xfrm>
              <a:off x="8382000" y="304800"/>
              <a:ext cx="304800" cy="304800"/>
              <a:chOff x="0" y="0"/>
              <a:chExt cx="304800" cy="304800"/>
            </a:xfrm>
          </p:grpSpPr>
          <p:sp>
            <p:nvSpPr>
              <p:cNvPr id="226" name="Google Shape;226;p18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003B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8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  <a:lnTo>
                      <a:pt x="120000" y="30000"/>
                    </a:lnTo>
                    <a:lnTo>
                      <a:pt x="40000" y="30000"/>
                    </a:lnTo>
                    <a:lnTo>
                      <a:pt x="40000" y="50000"/>
                    </a:lnTo>
                    <a:lnTo>
                      <a:pt x="100000" y="50000"/>
                    </a:lnTo>
                    <a:lnTo>
                      <a:pt x="100000" y="80000"/>
                    </a:lnTo>
                    <a:lnTo>
                      <a:pt x="40000" y="80000"/>
                    </a:lnTo>
                    <a:lnTo>
                      <a:pt x="4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" name="Google Shape;228;p18"/>
            <p:cNvSpPr txBox="1"/>
            <p:nvPr/>
          </p:nvSpPr>
          <p:spPr>
            <a:xfrm>
              <a:off x="457200" y="3429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1" lang="uk" sz="2400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Ключові знахідки аудиту SRS 1.0</a:t>
              </a:r>
              <a:endParaRPr b="1" sz="26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600" b="0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Показові дефекти та запити на уточнення замовнику</a:t>
              </a:r>
              <a:endParaRPr sz="180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29" name="Google Shape;22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200" y="1190625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18"/>
          <p:cNvGrpSpPr/>
          <p:nvPr/>
        </p:nvGrpSpPr>
        <p:grpSpPr>
          <a:xfrm>
            <a:off x="457200" y="1381125"/>
            <a:ext cx="2590800" cy="3381300"/>
            <a:chOff x="0" y="0"/>
            <a:chExt cx="2590800" cy="3381300"/>
          </a:xfrm>
        </p:grpSpPr>
        <p:sp>
          <p:nvSpPr>
            <p:cNvPr id="231" name="Google Shape;231;p18"/>
            <p:cNvSpPr/>
            <p:nvPr/>
          </p:nvSpPr>
          <p:spPr>
            <a:xfrm>
              <a:off x="0" y="0"/>
              <a:ext cx="2590800" cy="3381300"/>
            </a:xfrm>
            <a:prstGeom prst="roundRect">
              <a:avLst>
                <a:gd fmla="val 1470" name="adj"/>
              </a:avLst>
            </a:prstGeom>
            <a:solidFill>
              <a:srgbClr val="F4F6F9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190500" y="146304"/>
              <a:ext cx="2209800" cy="3108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Несуперечливість</a:t>
              </a:r>
              <a:endParaRPr sz="12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uk" sz="125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Конфлікт денного ліміту</a:t>
              </a:r>
              <a:endParaRPr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b="1" lang="uk" sz="2800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50 тис.</a:t>
              </a:r>
              <a:endParaRPr b="1" sz="3400">
                <a:solidFill>
                  <a:srgbClr val="003B7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uk" sz="1100" b="1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Денний ліміт у F-70 та BL-40</a:t>
              </a:r>
              <a:endParaRPr sz="1200">
                <a:solidFill>
                  <a:srgbClr val="5C6B7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 вимозі F-70 вказано ліміт 100 000 грн, а в BL-40 — 50 000 грн. У SRS 1.1 узгоджено 50 000 грн за кодом класу TransferValidator.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3276600" y="1381125"/>
            <a:ext cx="2590800" cy="3381300"/>
            <a:chOff x="0" y="0"/>
            <a:chExt cx="2590800" cy="3381300"/>
          </a:xfrm>
        </p:grpSpPr>
        <p:sp>
          <p:nvSpPr>
            <p:cNvPr id="235" name="Google Shape;235;p18"/>
            <p:cNvSpPr/>
            <p:nvPr/>
          </p:nvSpPr>
          <p:spPr>
            <a:xfrm>
              <a:off x="0" y="0"/>
              <a:ext cx="2590800" cy="3381300"/>
            </a:xfrm>
            <a:prstGeom prst="roundRect">
              <a:avLst>
                <a:gd fmla="val 1470" name="adj"/>
              </a:avLst>
            </a:prstGeom>
            <a:solidFill>
              <a:srgbClr val="F4F6F9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190500" y="146304"/>
              <a:ext cx="2209800" cy="3108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Простежуваність і Повнота</a:t>
              </a:r>
              <a:endParaRPr sz="1225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uk" sz="125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Унікальність ID та виписка</a:t>
              </a:r>
              <a:endParaRPr sz="131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b="1" lang="uk" sz="2800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GUI-45</a:t>
              </a:r>
              <a:endParaRPr b="1" sz="3160">
                <a:solidFill>
                  <a:srgbClr val="C59B5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uk" sz="1100" b="1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та GUI-75 замість дублів ID</a:t>
              </a:r>
              <a:endParaRPr sz="1225">
                <a:solidFill>
                  <a:srgbClr val="5C6B7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Усунено дублікати GUI-40 і F-130/F-140, виправлено посилання у D-20, а в F-50 замість неіснуючого ФК-РВ-2 задано 4 колонки таблиці.</a:t>
              </a:r>
              <a:endParaRPr sz="1318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8" name="Google Shape;238;p18"/>
          <p:cNvGrpSpPr/>
          <p:nvPr/>
        </p:nvGrpSpPr>
        <p:grpSpPr>
          <a:xfrm>
            <a:off x="6096000" y="1381125"/>
            <a:ext cx="2674483" cy="3381300"/>
            <a:chOff x="0" y="0"/>
            <a:chExt cx="2590800" cy="3381300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590800" cy="3381300"/>
            </a:xfrm>
            <a:prstGeom prst="roundRect">
              <a:avLst>
                <a:gd fmla="val 1470" name="adj"/>
              </a:avLst>
            </a:prstGeom>
            <a:solidFill>
              <a:srgbClr val="FFF5F5"/>
            </a:solidFill>
            <a:ln cap="flat" cmpd="sng" w="9525">
              <a:solidFill>
                <a:srgbClr val="B33A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0" y="0"/>
              <a:ext cx="2590800" cy="38100"/>
            </a:xfrm>
            <a:prstGeom prst="roundRect">
              <a:avLst>
                <a:gd fmla="val 0" name="adj"/>
              </a:avLst>
            </a:prstGeom>
            <a:solidFill>
              <a:srgbClr val="B33A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190497" y="146304"/>
              <a:ext cx="2250000" cy="3108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Робота з ризиками</a:t>
              </a:r>
              <a:endParaRPr sz="1200">
                <a:solidFill>
                  <a:srgbClr val="B33A3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uk" sz="115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Питання замовнику (Q-01–Q-04)</a:t>
              </a:r>
              <a:endParaRPr sz="1300">
                <a:solidFill>
                  <a:srgbClr val="B33A3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uk" sz="11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Параметри для підтвердження:</a:t>
              </a:r>
              <a:endParaRPr sz="12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• Формат дат ММ-ДД-РРРР (F-90)</a:t>
              </a:r>
              <a:endParaRPr sz="115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0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• Денний ліміт 50 000 грн (F-70)</a:t>
              </a:r>
              <a:endParaRPr sz="115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uk" sz="10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• Межа кредиту 1 000 грн (F-110)</a:t>
              </a:r>
              <a:endParaRPr sz="115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uk" sz="11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Рішення:</a:t>
              </a:r>
              <a:endParaRPr sz="1150">
                <a:solidFill>
                  <a:srgbClr val="B33A3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Спірні бізнес-правила узгоджено з кодом модуля та позначено для затвердження замовником.</a:t>
              </a:r>
              <a:endParaRPr sz="1200">
                <a:solidFill>
                  <a:srgbClr val="1A253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0" y="0"/>
            <a:ext cx="9144000" cy="123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19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0" y="57150"/>
              <a:ext cx="9144000" cy="19200"/>
            </a:xfrm>
            <a:prstGeom prst="rect">
              <a:avLst/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19"/>
          <p:cNvGrpSpPr/>
          <p:nvPr/>
        </p:nvGrpSpPr>
        <p:grpSpPr>
          <a:xfrm>
            <a:off x="8382000" y="304800"/>
            <a:ext cx="304800" cy="304800"/>
            <a:chOff x="0" y="0"/>
            <a:chExt cx="304800" cy="304800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625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95250" y="952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30000"/>
                  </a:lnTo>
                  <a:lnTo>
                    <a:pt x="40000" y="30000"/>
                  </a:lnTo>
                  <a:lnTo>
                    <a:pt x="40000" y="50000"/>
                  </a:lnTo>
                  <a:lnTo>
                    <a:pt x="100000" y="50000"/>
                  </a:lnTo>
                  <a:lnTo>
                    <a:pt x="100000" y="80000"/>
                  </a:lnTo>
                  <a:lnTo>
                    <a:pt x="40000" y="80000"/>
                  </a:lnTo>
                  <a:lnTo>
                    <a:pt x="4000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19"/>
          <p:cNvSpPr txBox="1"/>
          <p:nvPr/>
        </p:nvSpPr>
        <p:spPr>
          <a:xfrm>
            <a:off x="45720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uk" sz="24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Покриття критеріїв якості вимог</a:t>
            </a:r>
            <a:endParaRPr b="1" sz="2600">
              <a:solidFill>
                <a:srgbClr val="003B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b="0">
                <a:solidFill>
                  <a:srgbClr val="4A5568"/>
                </a:solidFill>
                <a:latin typeface="Inter"/>
                <a:ea typeface="Times New Roman"/>
                <a:cs typeface="Times New Roman"/>
                <a:sym typeface="Times New Roman"/>
              </a:rPr>
              <a:t>Реєстр дефектів вимог (requirements-defects.md)</a:t>
            </a:r>
            <a:endParaRPr sz="1800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" name="Google Shape;255;p19"/>
          <p:cNvCxnSpPr/>
          <p:nvPr/>
        </p:nvCxnSpPr>
        <p:spPr>
          <a:xfrm>
            <a:off x="0" y="1238250"/>
            <a:ext cx="9144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6" name="Google Shape;256;p19"/>
          <p:cNvGrpSpPr/>
          <p:nvPr/>
        </p:nvGrpSpPr>
        <p:grpSpPr>
          <a:xfrm>
            <a:off x="457200" y="1476375"/>
            <a:ext cx="2438400" cy="3286200"/>
            <a:chOff x="0" y="0"/>
            <a:chExt cx="2438400" cy="3286200"/>
          </a:xfrm>
        </p:grpSpPr>
        <p:sp>
          <p:nvSpPr>
            <p:cNvPr id="257" name="Google Shape;257;p19"/>
            <p:cNvSpPr/>
            <p:nvPr/>
          </p:nvSpPr>
          <p:spPr>
            <a:xfrm>
              <a:off x="0" y="0"/>
              <a:ext cx="2438400" cy="3286200"/>
            </a:xfrm>
            <a:prstGeom prst="roundRect">
              <a:avLst>
                <a:gd fmla="val 1562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0" y="0"/>
              <a:ext cx="2438400" cy="573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228600" y="228600"/>
              <a:ext cx="1981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b="1" lang="uk" sz="3800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24</a:t>
              </a:r>
              <a:endParaRPr b="1" sz="40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50" b="1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ПРИЙНЯТІ ДЕФЕКТИ ВИМОГ</a:t>
              </a:r>
              <a:endParaRPr sz="12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0" name="Google Shape;260;p19"/>
            <p:cNvCxnSpPr/>
            <p:nvPr/>
          </p:nvCxnSpPr>
          <p:spPr>
            <a:xfrm>
              <a:off x="228600" y="1333500"/>
              <a:ext cx="1981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1" name="Google Shape;261;p19"/>
            <p:cNvSpPr txBox="1"/>
            <p:nvPr/>
          </p:nvSpPr>
          <p:spPr>
            <a:xfrm>
              <a:off x="228600" y="1417320"/>
              <a:ext cx="1981200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Запас міцності аудиту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15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 Реєстрі зафіксовано 24 підтверджені дефекти — по 4 на кожний критерій (+2 відхилені).</a:t>
              </a:r>
              <a:endParaRPr sz="13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 b="1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Норматив для команди з 3 осіб: ≥ 12 дефектів (по ≥ 2 на критерій).</a:t>
              </a:r>
              <a:endParaRPr sz="120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" name="Google Shape;262;p19"/>
          <p:cNvGrpSpPr/>
          <p:nvPr/>
        </p:nvGrpSpPr>
        <p:grpSpPr>
          <a:xfrm>
            <a:off x="3124200" y="1476375"/>
            <a:ext cx="5562600" cy="1000200"/>
            <a:chOff x="0" y="0"/>
            <a:chExt cx="5562600" cy="1000200"/>
          </a:xfrm>
        </p:grpSpPr>
        <p:sp>
          <p:nvSpPr>
            <p:cNvPr id="263" name="Google Shape;263;p19"/>
            <p:cNvSpPr/>
            <p:nvPr/>
          </p:nvSpPr>
          <p:spPr>
            <a:xfrm>
              <a:off x="0" y="0"/>
              <a:ext cx="5562600" cy="10002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0" y="0"/>
              <a:ext cx="38100" cy="10002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228600" y="91440"/>
              <a:ext cx="51435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Однозначність (4 дефекти) та Повнота (4 дефекти)</a:t>
              </a:r>
              <a:endParaRPr sz="1035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8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Уточнено формат дат ММ-ДД-РРРР (F-90), червоні повідомлення суми (GUI-50), шаблон IBAN ^UA\d{27}$ (BL-50), 4 колонки виписки (F-50) та заборону овердрафту й історію в AccountLedger (BL-70).</a:t>
              </a:r>
              <a:endParaRPr sz="1035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3124200" y="2619375"/>
            <a:ext cx="5562600" cy="1000200"/>
            <a:chOff x="0" y="0"/>
            <a:chExt cx="5562600" cy="1000200"/>
          </a:xfrm>
        </p:grpSpPr>
        <p:sp>
          <p:nvSpPr>
            <p:cNvPr id="267" name="Google Shape;267;p19"/>
            <p:cNvSpPr/>
            <p:nvPr/>
          </p:nvSpPr>
          <p:spPr>
            <a:xfrm>
              <a:off x="0" y="0"/>
              <a:ext cx="5562600" cy="10002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0" y="0"/>
              <a:ext cx="38100" cy="10002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228600" y="91440"/>
              <a:ext cx="51435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Несуперечливість (4 дефекти) та Простежуваність (4 дефекти)</a:t>
              </a:r>
              <a:endParaRPr sz="10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8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Узгоджено 7 полів пошуку клієнта (F-30 ↔ GUI-20), ліміт 50 000 грн (F-70 ↔ BL-40), мін. суму кредиту 1 000 грн (F-110 ↔ BL-30), усунено дублі F-140, GUI-40 і неіснуючі F-150/F-160 у D-20.</a:t>
              </a:r>
              <a:endParaRPr sz="10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0" name="Google Shape;270;p19"/>
          <p:cNvGrpSpPr/>
          <p:nvPr/>
        </p:nvGrpSpPr>
        <p:grpSpPr>
          <a:xfrm>
            <a:off x="3124200" y="3762375"/>
            <a:ext cx="5562600" cy="1000200"/>
            <a:chOff x="0" y="0"/>
            <a:chExt cx="5562600" cy="1000200"/>
          </a:xfrm>
        </p:grpSpPr>
        <p:sp>
          <p:nvSpPr>
            <p:cNvPr id="271" name="Google Shape;271;p19"/>
            <p:cNvSpPr/>
            <p:nvPr/>
          </p:nvSpPr>
          <p:spPr>
            <a:xfrm>
              <a:off x="0" y="0"/>
              <a:ext cx="5562600" cy="10002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0" y="0"/>
              <a:ext cx="38100" cy="10002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228600" y="91440"/>
              <a:ext cx="51435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uk" sz="105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Здійсненність (4 дефекти) та Тестопридатність (4 дефекти)</a:t>
              </a:r>
              <a:endParaRPr sz="10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8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Замінено нездійсненні перевірки у всіх банках світу (F-80) і реєстрі НБУ без мережі (BL-60); оцінні слова «інтуїтивно зрозумілою» (GUI-70) і «за будь-яких умов» (BL-80) замінено критеріями.</a:t>
              </a:r>
              <a:endParaRPr sz="100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20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280" name="Google Shape;280;p20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0" y="57150"/>
              <a:ext cx="9144000" cy="19200"/>
            </a:xfrm>
            <a:prstGeom prst="rect">
              <a:avLst/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20"/>
          <p:cNvGrpSpPr/>
          <p:nvPr/>
        </p:nvGrpSpPr>
        <p:grpSpPr>
          <a:xfrm>
            <a:off x="8382000" y="304800"/>
            <a:ext cx="304800" cy="304800"/>
            <a:chOff x="0" y="0"/>
            <a:chExt cx="304800" cy="304800"/>
          </a:xfrm>
        </p:grpSpPr>
        <p:sp>
          <p:nvSpPr>
            <p:cNvPr id="283" name="Google Shape;283;p20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fmla="val 625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95250" y="952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  <a:lnTo>
                    <a:pt x="120000" y="30000"/>
                  </a:lnTo>
                  <a:lnTo>
                    <a:pt x="40000" y="30000"/>
                  </a:lnTo>
                  <a:lnTo>
                    <a:pt x="40000" y="50000"/>
                  </a:lnTo>
                  <a:lnTo>
                    <a:pt x="100000" y="50000"/>
                  </a:lnTo>
                  <a:lnTo>
                    <a:pt x="100000" y="80000"/>
                  </a:lnTo>
                  <a:lnTo>
                    <a:pt x="40000" y="80000"/>
                  </a:lnTo>
                  <a:lnTo>
                    <a:pt x="4000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20"/>
          <p:cNvSpPr txBox="1"/>
          <p:nvPr/>
        </p:nvSpPr>
        <p:spPr>
          <a:xfrm>
            <a:off x="45720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uk" sz="24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Стратегія та План тестування</a:t>
            </a:r>
            <a:endParaRPr b="1" sz="2600">
              <a:solidFill>
                <a:srgbClr val="003B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 b="0">
                <a:solidFill>
                  <a:srgbClr val="4A5568"/>
                </a:solidFill>
                <a:latin typeface="Inter"/>
                <a:ea typeface="Times New Roman"/>
                <a:cs typeface="Times New Roman"/>
                <a:sym typeface="Times New Roman"/>
              </a:rPr>
              <a:t>Рівні, типи тестування та тестові дані (test-plan.md)</a:t>
            </a:r>
            <a:endParaRPr sz="1800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57200" y="1238250"/>
            <a:ext cx="8229600" cy="960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0" y="1476375"/>
            <a:ext cx="9600" cy="323850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20"/>
          <p:cNvGrpSpPr/>
          <p:nvPr/>
        </p:nvGrpSpPr>
        <p:grpSpPr>
          <a:xfrm>
            <a:off x="457200" y="1476375"/>
            <a:ext cx="3886200" cy="1143000"/>
            <a:chOff x="0" y="0"/>
            <a:chExt cx="3886200" cy="1143000"/>
          </a:xfrm>
        </p:grpSpPr>
        <p:sp>
          <p:nvSpPr>
            <p:cNvPr id="289" name="Google Shape;289;p20"/>
            <p:cNvSpPr/>
            <p:nvPr/>
          </p:nvSpPr>
          <p:spPr>
            <a:xfrm>
              <a:off x="0" y="0"/>
              <a:ext cx="3886200" cy="1143000"/>
            </a:xfrm>
            <a:prstGeom prst="roundRect">
              <a:avLst>
                <a:gd fmla="val 3333" name="adj"/>
              </a:avLst>
            </a:prstGeom>
            <a:solidFill>
              <a:srgbClr val="F4F6F9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152400" y="109728"/>
              <a:ext cx="3581400" cy="932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uk" sz="12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7 рівнів тестування (Таблиця 7.1)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8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Описано всі 7 рівнів: Unit та Integration (JUnit 5 для 3 класів Java-модуля), Smoke (6 перевірок перед сесією), System (ParaBank UI), Alpha, Beta та приймальне замовником.</a:t>
              </a:r>
              <a:endParaRPr sz="125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457200" y="2762250"/>
            <a:ext cx="3886200" cy="1952700"/>
            <a:chOff x="0" y="0"/>
            <a:chExt cx="3886200" cy="1952700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3886200" cy="1952700"/>
            </a:xfrm>
            <a:prstGeom prst="roundRect">
              <a:avLst>
                <a:gd fmla="val 1951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0" y="0"/>
              <a:ext cx="38100" cy="19527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190500" y="128016"/>
              <a:ext cx="3543300" cy="171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uk" sz="1200" b="1">
                  <a:solidFill>
                    <a:srgbClr val="003B73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24 типи тестування: 20 застосовних + 4 незастосовні</a:t>
              </a:r>
              <a:endParaRPr sz="13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80" b="0">
                  <a:solidFill>
                    <a:srgbClr val="1A2530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Визначено 20 застосовних типів на чолі з High (функціональне, потоки даних, захищеність, GUI; l10n і stress — Low) та 4 незастосовні типи (інсталяційне, spike, soak, memory leaks — за природою та SaaS/JVM-архітектурою «ФінКит»).</a:t>
              </a:r>
              <a:endParaRPr sz="1250">
                <a:solidFill>
                  <a:srgbClr val="1A253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5" name="Google Shape;295;p20"/>
          <p:cNvSpPr txBox="1"/>
          <p:nvPr/>
        </p:nvSpPr>
        <p:spPr>
          <a:xfrm>
            <a:off x="4876800" y="1476375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003B73"/>
                </a:solidFill>
                <a:latin typeface="Inter"/>
                <a:ea typeface="Inter SemiBold"/>
                <a:cs typeface="Inter SemiBold"/>
                <a:sym typeface="Inter SemiBold"/>
              </a:rPr>
              <a:t>ТЕСТОВІ ДАНІ ТА ПАРАМЕТРИ (ПРЕФІКС GD-)</a:t>
            </a:r>
            <a:endParaRPr b="0" sz="1050">
              <a:solidFill>
                <a:srgbClr val="003B7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96" name="Google Shape;296;p20"/>
          <p:cNvGrpSpPr/>
          <p:nvPr/>
        </p:nvGrpSpPr>
        <p:grpSpPr>
          <a:xfrm>
            <a:off x="4872038" y="1783080"/>
            <a:ext cx="3819600" cy="384048"/>
            <a:chOff x="-4762" y="-4762"/>
            <a:chExt cx="3819600" cy="371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ТЕСТОВИЙ ЛОГІН</a:t>
              </a:r>
              <a:endParaRPr b="0" sz="900">
                <a:solidFill>
                  <a:srgbClr val="5C6B7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GD-AndriiTest (Тестенко)</a:t>
              </a:r>
              <a:endParaRPr b="0" sz="11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4872038" y="2267712"/>
            <a:ext cx="3819600" cy="384048"/>
            <a:chOff x="-4762" y="-4762"/>
            <a:chExt cx="3819600" cy="371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ФОРМАТ IBAN</a:t>
              </a:r>
              <a:endParaRPr b="0" sz="900">
                <a:solidFill>
                  <a:srgbClr val="5C6B7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3" name="Google Shape;303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UA + 27 цифр (^UA\d{27}$)</a:t>
              </a:r>
              <a:endParaRPr b="0" sz="11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4872038" y="2752344"/>
            <a:ext cx="3819600" cy="384048"/>
            <a:chOff x="-4762" y="-4762"/>
            <a:chExt cx="3819600" cy="371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ДЕННИЙ ЛІМІТ</a:t>
              </a:r>
              <a:endParaRPr b="0" sz="900">
                <a:solidFill>
                  <a:srgbClr val="5C6B7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50 000,00 грн (BL-40)</a:t>
              </a:r>
              <a:endParaRPr b="0" sz="11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8" name="Google Shape;308;p20"/>
          <p:cNvGrpSpPr/>
          <p:nvPr/>
        </p:nvGrpSpPr>
        <p:grpSpPr>
          <a:xfrm>
            <a:off x="4872038" y="3273552"/>
            <a:ext cx="3819600" cy="384048"/>
            <a:chOff x="-4762" y="-4762"/>
            <a:chExt cx="3819600" cy="371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МЕЖІ КРЕДИТУ</a:t>
              </a:r>
              <a:endParaRPr b="0" sz="900">
                <a:solidFill>
                  <a:srgbClr val="5C6B7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1 000 – 1 000 000 грн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12" name="Google Shape;312;p20"/>
          <p:cNvGrpSpPr/>
          <p:nvPr/>
        </p:nvGrpSpPr>
        <p:grpSpPr>
          <a:xfrm>
            <a:off x="4872038" y="3758184"/>
            <a:ext cx="3819600" cy="384048"/>
            <a:chOff x="-4762" y="-4762"/>
            <a:chExt cx="3819600" cy="371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ТЕСТОВІ ДАНІ</a:t>
              </a:r>
              <a:endParaRPr b="0" sz="900">
                <a:solidFill>
                  <a:srgbClr val="5C6B7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Штучні дані (Додаток 9)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16" name="Google Shape;316;p20"/>
          <p:cNvGrpSpPr/>
          <p:nvPr/>
        </p:nvGrpSpPr>
        <p:grpSpPr>
          <a:xfrm>
            <a:off x="4876800" y="4242816"/>
            <a:ext cx="3810000" cy="384048"/>
            <a:chOff x="0" y="0"/>
            <a:chExt cx="3810000" cy="476400"/>
          </a:xfrm>
        </p:grpSpPr>
        <p:sp>
          <p:nvSpPr>
            <p:cNvPr id="317" name="Google Shape;317;p20"/>
            <p:cNvSpPr/>
            <p:nvPr/>
          </p:nvSpPr>
          <p:spPr>
            <a:xfrm>
              <a:off x="0" y="0"/>
              <a:ext cx="3810000" cy="384048"/>
            </a:xfrm>
            <a:prstGeom prst="roundRect">
              <a:avLst>
                <a:gd fmla="val 4000" name="adj"/>
              </a:avLst>
            </a:prstGeom>
            <a:solidFill>
              <a:srgbClr val="F4F6F9"/>
            </a:solidFill>
            <a:ln cap="flat" cmpd="sng" w="9525">
              <a:solidFill>
                <a:srgbClr val="C59B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 txBox="1"/>
            <p:nvPr/>
          </p:nvSpPr>
          <p:spPr>
            <a:xfrm>
              <a:off x="152400" y="82296"/>
              <a:ext cx="14289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88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ГОЛОВНИЙ РИЗИК</a:t>
              </a:r>
              <a:endParaRPr b="0" sz="9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1676400" y="64008"/>
              <a:ext cx="19812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50">
                  <a:solidFill>
                    <a:srgbClr val="1A2530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Скидання БД → Smoke-чек</a:t>
              </a:r>
              <a:endParaRPr b="0" sz="11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0" y="0"/>
              <a:ext cx="9144000" cy="1238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457200" y="3429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1" lang="uk" sz="2400">
                  <a:solidFill>
                    <a:srgbClr val="003B7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Внутрішній аудит інкременту Спринта 2</a:t>
              </a:r>
              <a:endParaRPr b="1" sz="2600">
                <a:solidFill>
                  <a:srgbClr val="003B7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600" b="0">
                  <a:solidFill>
                    <a:srgbClr val="4A5568"/>
                  </a:solidFill>
                  <a:latin typeface="Inter"/>
                  <a:ea typeface="Times New Roman"/>
                  <a:cs typeface="Times New Roman"/>
                  <a:sym typeface="Times New Roman"/>
                </a:rPr>
                <a:t>Definition of Done, ретроспектива та готовність</a:t>
              </a:r>
              <a:endParaRPr sz="1800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>
            <a:off x="457200" y="1466850"/>
            <a:ext cx="4000500" cy="1581300"/>
            <a:chOff x="0" y="0"/>
            <a:chExt cx="4000500" cy="1581300"/>
          </a:xfrm>
        </p:grpSpPr>
        <p:sp>
          <p:nvSpPr>
            <p:cNvPr id="329" name="Google Shape;329;p21"/>
            <p:cNvSpPr/>
            <p:nvPr/>
          </p:nvSpPr>
          <p:spPr>
            <a:xfrm>
              <a:off x="0" y="0"/>
              <a:ext cx="40005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457200" y="17145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5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Peer Review артефактів</a:t>
              </a:r>
              <a:endParaRPr b="0" sz="12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32" name="Google Shape;332;p21"/>
            <p:cNvGrpSpPr/>
            <p:nvPr/>
          </p:nvGrpSpPr>
          <p:grpSpPr>
            <a:xfrm>
              <a:off x="2667000" y="152400"/>
              <a:ext cx="1143000" cy="228600"/>
              <a:chOff x="0" y="0"/>
              <a:chExt cx="1143000" cy="228600"/>
            </a:xfrm>
          </p:grpSpPr>
          <p:sp>
            <p:nvSpPr>
              <p:cNvPr id="333" name="Google Shape;333;p21"/>
              <p:cNvSpPr/>
              <p:nvPr/>
            </p:nvSpPr>
            <p:spPr>
              <a:xfrm>
                <a:off x="0" y="0"/>
                <a:ext cx="11430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 txBox="1"/>
              <p:nvPr/>
            </p:nvSpPr>
            <p:spPr>
              <a:xfrm>
                <a:off x="304800" y="28575"/>
                <a:ext cx="86868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50">
                    <a:solidFill>
                      <a:srgbClr val="003B73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tasks.md</a:t>
                </a:r>
                <a:endParaRPr b="0" sz="900">
                  <a:solidFill>
                    <a:srgbClr val="003B7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5" name="Google Shape;335;p21"/>
            <p:cNvGrpSpPr/>
            <p:nvPr/>
          </p:nvGrpSpPr>
          <p:grpSpPr>
            <a:xfrm>
              <a:off x="190500" y="476250"/>
              <a:ext cx="762000" cy="952500"/>
              <a:chOff x="0" y="0"/>
              <a:chExt cx="762000" cy="952500"/>
            </a:xfrm>
          </p:grpSpPr>
          <p:sp>
            <p:nvSpPr>
              <p:cNvPr id="336" name="Google Shape;336;p21"/>
              <p:cNvSpPr/>
              <p:nvPr/>
            </p:nvSpPr>
            <p:spPr>
              <a:xfrm>
                <a:off x="0" y="0"/>
                <a:ext cx="762000" cy="952500"/>
              </a:xfrm>
              <a:prstGeom prst="roundRect">
                <a:avLst>
                  <a:gd fmla="val 2500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1"/>
              <p:cNvSpPr txBox="1"/>
              <p:nvPr/>
            </p:nvSpPr>
            <p:spPr>
              <a:xfrm>
                <a:off x="0" y="1143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2200">
                    <a:solidFill>
                      <a:srgbClr val="003B73"/>
                    </a:solidFill>
                    <a:latin typeface="Inter"/>
                    <a:ea typeface="Inter"/>
                    <a:cs typeface="Inter"/>
                    <a:sym typeface="Inter"/>
                  </a:rPr>
                  <a:t>23</a:t>
                </a:r>
                <a:endParaRPr b="1" sz="2480">
                  <a:solidFill>
                    <a:srgbClr val="003B7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8" name="Google Shape;338;p21"/>
              <p:cNvSpPr txBox="1"/>
              <p:nvPr/>
            </p:nvSpPr>
            <p:spPr>
              <a:xfrm>
                <a:off x="57150" y="495300"/>
                <a:ext cx="64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uk" sz="800">
                    <a:solidFill>
                      <a:srgbClr val="1A2530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рядки змін</a:t>
                </a:r>
                <a:endParaRPr b="0" sz="800">
                  <a:solidFill>
                    <a:srgbClr val="5C6B7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39" name="Google Shape;339;p21"/>
            <p:cNvSpPr txBox="1"/>
            <p:nvPr/>
          </p:nvSpPr>
          <p:spPr>
            <a:xfrm>
              <a:off x="1066800" y="495300"/>
              <a:ext cx="2743200" cy="987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105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Реєстр дефектів, SRS-1.1.md та test-plan.md пройшли перехресне рецензування за чек-листами Спринта 2 без жодного пропуску.</a:t>
              </a:r>
              <a:endParaRPr b="0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0" name="Google Shape;340;p21"/>
          <p:cNvGrpSpPr/>
          <p:nvPr/>
        </p:nvGrpSpPr>
        <p:grpSpPr>
          <a:xfrm>
            <a:off x="4686300" y="1466850"/>
            <a:ext cx="4000500" cy="1581300"/>
            <a:chOff x="0" y="0"/>
            <a:chExt cx="4000500" cy="1581300"/>
          </a:xfrm>
        </p:grpSpPr>
        <p:sp>
          <p:nvSpPr>
            <p:cNvPr id="341" name="Google Shape;341;p21"/>
            <p:cNvSpPr/>
            <p:nvPr/>
          </p:nvSpPr>
          <p:spPr>
            <a:xfrm>
              <a:off x="0" y="0"/>
              <a:ext cx="4000500" cy="1581300"/>
            </a:xfrm>
            <a:prstGeom prst="roundRect">
              <a:avLst>
                <a:gd fmla="val 2409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0" y="0"/>
              <a:ext cx="38100" cy="1581300"/>
            </a:xfrm>
            <a:prstGeom prst="roundRect">
              <a:avLst>
                <a:gd fmla="val 0" name="adj"/>
              </a:avLst>
            </a:prstGeom>
            <a:solidFill>
              <a:srgbClr val="C59B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457200" y="1714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5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Робота «Адвоката замовника»</a:t>
              </a:r>
              <a:endParaRPr b="0" sz="12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190500" y="495300"/>
              <a:ext cx="3619500" cy="987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uk" sz="10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Під час модерації реєстру критично перевірено кожну знахідку:</a:t>
              </a:r>
              <a:endParaRPr b="0" sz="1018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uk" sz="100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• Відхилено 2 записи: F-60 (100 грн) і BL-20 (округлений A)</a:t>
              </a:r>
              <a:endParaRPr b="0" sz="1018">
                <a:solidFill>
                  <a:srgbClr val="B33A3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Результат: Всі 24 прийняті дефекти виправлено без нових помилок.</a:t>
              </a:r>
              <a:endParaRPr b="0" sz="925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5" name="Google Shape;345;p21"/>
          <p:cNvGrpSpPr/>
          <p:nvPr/>
        </p:nvGrpSpPr>
        <p:grpSpPr>
          <a:xfrm>
            <a:off x="457200" y="3181350"/>
            <a:ext cx="4000500" cy="1657500"/>
            <a:chOff x="0" y="0"/>
            <a:chExt cx="4000500" cy="1657500"/>
          </a:xfrm>
        </p:grpSpPr>
        <p:sp>
          <p:nvSpPr>
            <p:cNvPr id="346" name="Google Shape;346;p21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2298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0" y="0"/>
              <a:ext cx="38100" cy="1657500"/>
            </a:xfrm>
            <a:prstGeom prst="roundRect">
              <a:avLst>
                <a:gd fmla="val 0" name="adj"/>
              </a:avLst>
            </a:prstGeom>
            <a:solidFill>
              <a:srgbClr val="003B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457200" y="17145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5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Ретроспектива спринта</a:t>
              </a:r>
              <a:endParaRPr b="0" sz="12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49" name="Google Shape;349;p21"/>
            <p:cNvGrpSpPr/>
            <p:nvPr/>
          </p:nvGrpSpPr>
          <p:grpSpPr>
            <a:xfrm>
              <a:off x="2667000" y="152400"/>
              <a:ext cx="1143000" cy="228600"/>
              <a:chOff x="0" y="0"/>
              <a:chExt cx="1143000" cy="228600"/>
            </a:xfrm>
          </p:grpSpPr>
          <p:sp>
            <p:nvSpPr>
              <p:cNvPr id="350" name="Google Shape;350;p21"/>
              <p:cNvSpPr/>
              <p:nvPr/>
            </p:nvSpPr>
            <p:spPr>
              <a:xfrm>
                <a:off x="0" y="0"/>
                <a:ext cx="11430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DDE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1"/>
              <p:cNvSpPr txBox="1"/>
              <p:nvPr/>
            </p:nvSpPr>
            <p:spPr>
              <a:xfrm>
                <a:off x="304800" y="28575"/>
                <a:ext cx="762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850">
                    <a:solidFill>
                      <a:srgbClr val="003B73"/>
                    </a:solidFill>
                    <a:latin typeface="Inter"/>
                    <a:ea typeface="Inter SemiBold"/>
                    <a:cs typeface="Inter SemiBold"/>
                    <a:sym typeface="Inter SemiBold"/>
                  </a:rPr>
                  <a:t>retro.md</a:t>
                </a:r>
                <a:endParaRPr b="0" sz="900">
                  <a:solidFill>
                    <a:srgbClr val="003B7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52" name="Google Shape;352;p21"/>
            <p:cNvSpPr txBox="1"/>
            <p:nvPr/>
          </p:nvSpPr>
          <p:spPr>
            <a:xfrm>
              <a:off x="190500" y="495300"/>
              <a:ext cx="361950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uk" sz="1019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Проведено ретроспективу Start / Stop / Continue та заплановано 3 дії на Спринт 3.</a:t>
              </a:r>
              <a:endParaRPr b="0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b="1" lang="uk" sz="1019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Ключове рішення на Спринт 3:</a:t>
              </a:r>
              <a:endParaRPr b="0" sz="11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uk" sz="10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Починати кожен сеанс ParaBank зі Smoke-перевірки акаунта GD-AndriiTest.</a:t>
              </a:r>
              <a:endParaRPr b="0" sz="110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4686300" y="3181350"/>
            <a:ext cx="4000500" cy="1657500"/>
            <a:chOff x="0" y="0"/>
            <a:chExt cx="4000500" cy="1657500"/>
          </a:xfrm>
        </p:grpSpPr>
        <p:sp>
          <p:nvSpPr>
            <p:cNvPr id="354" name="Google Shape;354;p21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2298" name="adj"/>
              </a:avLst>
            </a:prstGeom>
            <a:solidFill>
              <a:srgbClr val="FFFFFF"/>
            </a:solidFill>
            <a:ln cap="flat" cmpd="sng" w="9525">
              <a:solidFill>
                <a:srgbClr val="DDE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0" y="0"/>
              <a:ext cx="38100" cy="1657500"/>
            </a:xfrm>
            <a:prstGeom prst="roundRect">
              <a:avLst>
                <a:gd fmla="val 0" name="adj"/>
              </a:avLst>
            </a:prstGeom>
            <a:solidFill>
              <a:srgbClr val="008A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1"/>
            <p:cNvGrpSpPr/>
            <p:nvPr/>
          </p:nvGrpSpPr>
          <p:grpSpPr>
            <a:xfrm>
              <a:off x="190500" y="152400"/>
              <a:ext cx="1524000" cy="247800"/>
              <a:chOff x="0" y="0"/>
              <a:chExt cx="1524000" cy="247800"/>
            </a:xfrm>
          </p:grpSpPr>
          <p:sp>
            <p:nvSpPr>
              <p:cNvPr id="357" name="Google Shape;357;p21"/>
              <p:cNvSpPr/>
              <p:nvPr/>
            </p:nvSpPr>
            <p:spPr>
              <a:xfrm>
                <a:off x="0" y="0"/>
                <a:ext cx="15240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E6F2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1"/>
              <p:cNvSpPr txBox="1"/>
              <p:nvPr/>
            </p:nvSpPr>
            <p:spPr>
              <a:xfrm>
                <a:off x="266700" y="38100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950">
                    <a:solidFill>
                      <a:srgbClr val="1E7E34"/>
                    </a:solidFill>
                    <a:latin typeface="Inter"/>
                    <a:ea typeface="Inter"/>
                    <a:cs typeface="Inter"/>
                    <a:sym typeface="Inter"/>
                  </a:rPr>
                  <a:t>VERDICT: READY</a:t>
                </a:r>
                <a:endParaRPr b="1" sz="1000">
                  <a:solidFill>
                    <a:srgbClr val="008A3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59" name="Google Shape;359;p21"/>
            <p:cNvSpPr txBox="1"/>
            <p:nvPr/>
          </p:nvSpPr>
          <p:spPr>
            <a:xfrm>
              <a:off x="190500" y="495300"/>
              <a:ext cx="361950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uk" sz="1200">
                  <a:solidFill>
                    <a:srgbClr val="003B73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Інкремент v2 зібрано та завантажено</a:t>
              </a:r>
              <a:endParaRPr b="0" sz="1300">
                <a:solidFill>
                  <a:srgbClr val="003B7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0" lang="uk" sz="1019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Усі артефакти Спринта 2 (Реєстр, SRS-1.1, Тест-план, Задачі, Ретро) зафіксовані на GitHub.</a:t>
              </a:r>
              <a:endParaRPr b="0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019">
                  <a:solidFill>
                    <a:srgbClr val="1E7E34"/>
                  </a:solidFill>
                  <a:latin typeface="Inter"/>
                  <a:ea typeface="Inter SemiBold"/>
                  <a:cs typeface="Inter SemiBold"/>
                  <a:sym typeface="Inter SemiBold"/>
                </a:rPr>
                <a:t>★ Команда повністю готова до старту Спринта 3</a:t>
              </a:r>
              <a:endParaRPr b="0" sz="1050">
                <a:solidFill>
                  <a:srgbClr val="008A3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